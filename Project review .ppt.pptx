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65" r:id="rId2"/>
    <p:sldId id="327" r:id="rId3"/>
    <p:sldId id="310" r:id="rId4"/>
    <p:sldId id="328" r:id="rId5"/>
    <p:sldId id="329" r:id="rId6"/>
    <p:sldId id="336" r:id="rId7"/>
    <p:sldId id="337" r:id="rId8"/>
    <p:sldId id="332" r:id="rId9"/>
    <p:sldId id="333" r:id="rId10"/>
    <p:sldId id="335" r:id="rId11"/>
    <p:sldId id="334" r:id="rId12"/>
    <p:sldId id="324" r:id="rId13"/>
    <p:sldId id="338" r:id="rId14"/>
    <p:sldId id="326" r:id="rId15"/>
    <p:sldId id="318" r:id="rId16"/>
  </p:sldIdLst>
  <p:sldSz cx="12188825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9" autoAdjust="0"/>
  </p:normalViewPr>
  <p:slideViewPr>
    <p:cSldViewPr showGuides="1">
      <p:cViewPr varScale="1">
        <p:scale>
          <a:sx n="63" d="100"/>
          <a:sy n="63" d="100"/>
        </p:scale>
        <p:origin x="804" y="9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1/30/2026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1/30/2026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32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8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89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8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8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7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2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6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1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7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3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8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7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4555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4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49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4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5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96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5820" y="188640"/>
            <a:ext cx="8229600" cy="172819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000"/>
                </a:solidFill>
                <a:latin typeface="Algerian" panose="04020705040A02060702" pitchFamily="82" charset="0"/>
              </a:rPr>
              <a:t>Project TITLE</a:t>
            </a:r>
            <a:r>
              <a:rPr lang="en-US" sz="3200" dirty="0">
                <a:latin typeface="Algerian" panose="04020705040A02060702" pitchFamily="82" charset="0"/>
              </a:rPr>
              <a:t>:</a:t>
            </a:r>
            <a:br>
              <a:rPr lang="en-US" sz="3200" dirty="0">
                <a:latin typeface="Algerian" panose="04020705040A02060702" pitchFamily="82" charset="0"/>
              </a:rPr>
            </a:br>
            <a:r>
              <a:rPr lang="en-US" sz="3200" b="1" dirty="0">
                <a:latin typeface="Baskerville Old Face" panose="02020602080505020303" pitchFamily="18" charset="0"/>
              </a:rPr>
              <a:t>Hotel Booking Demand Forecasting &amp; Cancellation Analysis Using Machine Learning</a:t>
            </a:r>
            <a:endParaRPr lang="en-US" sz="3200" dirty="0">
              <a:latin typeface="Baskerville Old Face" panose="020206020805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98520" y="1556792"/>
            <a:ext cx="9073008" cy="460851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endParaRPr lang="en-IN" sz="4800" dirty="0" smtClean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2800" b="1" dirty="0" smtClean="0">
                <a:solidFill>
                  <a:schemeClr val="accent6"/>
                </a:solidFill>
                <a:latin typeface="Baskerville Old Face" panose="02020602080505020303" pitchFamily="18" charset="0"/>
              </a:rPr>
              <a:t>Project guide </a:t>
            </a:r>
            <a:r>
              <a:rPr lang="en-IN" sz="12800" dirty="0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: </a:t>
            </a:r>
            <a:r>
              <a:rPr lang="en-IN" sz="12800" dirty="0" err="1" smtClean="0">
                <a:solidFill>
                  <a:schemeClr val="tx1"/>
                </a:solidFill>
                <a:latin typeface="Baskerville Old Face" panose="02020602080505020303" pitchFamily="18" charset="0"/>
              </a:rPr>
              <a:t>dr.m.lavanaya</a:t>
            </a:r>
            <a:endParaRPr lang="en-IN" sz="12800" dirty="0">
              <a:solidFill>
                <a:srgbClr val="FF0000"/>
              </a:solidFill>
              <a:latin typeface="Algerian" panose="04020705040A02060702" pitchFamily="82" charset="0"/>
            </a:endParaRPr>
          </a:p>
          <a:p>
            <a:pPr>
              <a:lnSpc>
                <a:spcPct val="120000"/>
              </a:lnSpc>
            </a:pPr>
            <a:endParaRPr lang="en-IN" sz="4800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>
              <a:lnSpc>
                <a:spcPct val="120000"/>
              </a:lnSpc>
            </a:pPr>
            <a:r>
              <a:rPr lang="en-IN" sz="12800" dirty="0">
                <a:solidFill>
                  <a:schemeClr val="tx1"/>
                </a:solidFill>
                <a:latin typeface="Algerian" panose="04020705040A02060702" pitchFamily="82" charset="0"/>
              </a:rPr>
              <a:t>Student names:                Roll numbers:</a:t>
            </a:r>
          </a:p>
          <a:p>
            <a:pPr algn="just">
              <a:lnSpc>
                <a:spcPct val="120000"/>
              </a:lnSpc>
            </a:pPr>
            <a:r>
              <a:rPr lang="en-IN" sz="12800" dirty="0" err="1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P.M.Manohar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                </a:t>
            </a:r>
            <a:r>
              <a:rPr lang="en-IN" sz="12800" dirty="0" smtClean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   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22781A3397</a:t>
            </a:r>
            <a:endParaRPr lang="en-IN" sz="12800" dirty="0">
              <a:solidFill>
                <a:schemeClr val="tx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12800" dirty="0" err="1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P.Vishnu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	            </a:t>
            </a:r>
            <a:r>
              <a:rPr lang="en-IN" sz="12800" dirty="0" smtClean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               2278</a:t>
            </a:r>
            <a:r>
              <a:rPr lang="en-US" alt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1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A3399 </a:t>
            </a:r>
          </a:p>
          <a:p>
            <a:pPr algn="just">
              <a:lnSpc>
                <a:spcPct val="120000"/>
              </a:lnSpc>
            </a:pPr>
            <a:r>
              <a:rPr lang="en-IN" sz="12800" dirty="0" err="1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T.Charitha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</a:t>
            </a:r>
            <a:r>
              <a:rPr lang="en-IN" sz="12800" dirty="0" err="1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reddy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         22781A33D1</a:t>
            </a:r>
          </a:p>
          <a:p>
            <a:pPr algn="just">
              <a:lnSpc>
                <a:spcPct val="120000"/>
              </a:lnSpc>
            </a:pP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Guru </a:t>
            </a:r>
            <a:r>
              <a:rPr lang="en-IN" sz="12800" dirty="0" err="1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mohan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	            </a:t>
            </a:r>
            <a:r>
              <a:rPr lang="en-IN" sz="12800" dirty="0" smtClean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      22781A33E6</a:t>
            </a:r>
            <a:endParaRPr lang="en-IN" sz="12800" dirty="0">
              <a:solidFill>
                <a:schemeClr val="tx1"/>
              </a:solidFill>
              <a:latin typeface="Baskerville Old Face" panose="02020602080505020303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IN" sz="12800" dirty="0" err="1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M.Vasanth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 kumar           2</a:t>
            </a:r>
            <a:r>
              <a:rPr lang="en-US" alt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3</a:t>
            </a:r>
            <a:r>
              <a:rPr 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78</a:t>
            </a:r>
            <a:r>
              <a:rPr lang="en-US" altLang="en-IN" sz="12800" dirty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5</a:t>
            </a:r>
            <a:r>
              <a:rPr lang="en-IN" sz="12800" dirty="0" smtClean="0">
                <a:solidFill>
                  <a:schemeClr val="tx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A3312</a:t>
            </a:r>
            <a:endParaRPr lang="en-US" sz="128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128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128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US" sz="12800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pPr algn="just">
              <a:lnSpc>
                <a:spcPct val="120000"/>
              </a:lnSpc>
            </a:pPr>
            <a:endParaRPr lang="en-IN" sz="1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IN" sz="1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IN" sz="1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>
              <a:lnSpc>
                <a:spcPct val="120000"/>
              </a:lnSpc>
            </a:pPr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     </a:t>
            </a: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Algerian" panose="04020705040A02060702" pitchFamily="82" charset="0"/>
            </a:endParaRPr>
          </a:p>
          <a:p>
            <a:pPr>
              <a:lnSpc>
                <a:spcPct val="120000"/>
              </a:lnSpc>
            </a:pPr>
            <a:endParaRPr lang="en-IN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  <a:p>
            <a:r>
              <a:rPr lang="en-IN" dirty="0"/>
              <a:t/>
            </a:r>
            <a:br>
              <a:rPr lang="en-IN" dirty="0"/>
            </a:br>
            <a:endParaRPr lang="it-IT" dirty="0">
              <a:solidFill>
                <a:srgbClr val="FFC000"/>
              </a:solidFill>
              <a:latin typeface="Algerian" panose="04020705040A02060702" pitchFamily="82" charset="0"/>
            </a:endParaRPr>
          </a:p>
          <a:p>
            <a:endParaRPr lang="it-IT" dirty="0"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r>
              <a:rPr lang="en-US" dirty="0" err="1" smtClean="0"/>
              <a:t>statment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Hotels struggle with unpredictable demand and cancellations.</a:t>
            </a:r>
          </a:p>
          <a:p>
            <a:r>
              <a:rPr lang="en-US" dirty="0"/>
              <a:t>Manual forecasting causes revenue loss and poor planning.</a:t>
            </a:r>
          </a:p>
        </p:txBody>
      </p:sp>
    </p:spTree>
    <p:extLst>
      <p:ext uri="{BB962C8B-B14F-4D97-AF65-F5344CB8AC3E}">
        <p14:creationId xmlns:p14="http://schemas.microsoft.com/office/powerpoint/2010/main" val="137748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32023" y="332656"/>
            <a:ext cx="9144001" cy="77187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ABSTRACT: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3" y="1196753"/>
            <a:ext cx="9134391" cy="48230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project develops a Machine Learning based system to predict hotel booking demand and cancellation risk.</a:t>
            </a:r>
            <a:br>
              <a:rPr lang="en-US" dirty="0"/>
            </a:br>
            <a:r>
              <a:rPr lang="en-US" dirty="0"/>
              <a:t>It uses historical hotel booking data to train predictive models.</a:t>
            </a:r>
          </a:p>
          <a:p>
            <a:pPr marL="0" indent="0">
              <a:buNone/>
            </a:pPr>
            <a:r>
              <a:rPr lang="en-US" dirty="0"/>
              <a:t>Two main functions are provided: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Forecasting monthly booking demand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Predicting the probability of booking cancellation</a:t>
            </a:r>
          </a:p>
          <a:p>
            <a:pPr marL="0" indent="0">
              <a:buNone/>
            </a:pPr>
            <a:r>
              <a:rPr lang="en-US" dirty="0"/>
              <a:t>The trained models are deployed using a </a:t>
            </a:r>
            <a:r>
              <a:rPr lang="en-US" dirty="0" err="1"/>
              <a:t>Streamlit</a:t>
            </a:r>
            <a:r>
              <a:rPr lang="en-US" dirty="0"/>
              <a:t> web application, where users can enter booking details and get real-time results.</a:t>
            </a:r>
            <a:br>
              <a:rPr lang="en-US" dirty="0"/>
            </a:br>
            <a:r>
              <a:rPr lang="en-US" dirty="0"/>
              <a:t>This system helps in better planning and decision making for hotel management.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796" y="2690336"/>
            <a:ext cx="943304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Forecast monthly demand</a:t>
            </a:r>
          </a:p>
          <a:p>
            <a:r>
              <a:rPr lang="en-US" sz="3200" dirty="0"/>
              <a:t>Predict room-wise bookings</a:t>
            </a:r>
          </a:p>
          <a:p>
            <a:r>
              <a:rPr lang="en-US" sz="3200" dirty="0"/>
              <a:t>Analyze cancellations</a:t>
            </a:r>
          </a:p>
          <a:p>
            <a:r>
              <a:rPr lang="en-US" sz="3200" dirty="0"/>
              <a:t>Study daily guest averages</a:t>
            </a:r>
          </a:p>
          <a:p>
            <a:r>
              <a:rPr lang="en-US" sz="3200" dirty="0"/>
              <a:t>Build </a:t>
            </a:r>
            <a:r>
              <a:rPr lang="en-US" sz="3200" dirty="0" err="1"/>
              <a:t>Streamlit</a:t>
            </a:r>
            <a:r>
              <a:rPr lang="en-US" sz="3200" dirty="0"/>
              <a:t>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9796" y="1484784"/>
            <a:ext cx="60961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398912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821" y="497879"/>
            <a:ext cx="9900594" cy="1166213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Technology used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09836" y="2132856"/>
            <a:ext cx="84105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Python (Pandas, </a:t>
            </a:r>
            <a:r>
              <a:rPr lang="en-US" sz="4000" dirty="0" err="1"/>
              <a:t>NumPy</a:t>
            </a:r>
            <a:r>
              <a:rPr lang="en-US" sz="4000" dirty="0"/>
              <a:t>, </a:t>
            </a:r>
            <a:r>
              <a:rPr lang="en-US" sz="4000" dirty="0" err="1"/>
              <a:t>Scikit</a:t>
            </a:r>
            <a:r>
              <a:rPr lang="en-US" sz="4000" dirty="0"/>
              <a:t>-learn)</a:t>
            </a:r>
          </a:p>
          <a:p>
            <a:r>
              <a:rPr lang="en-US" sz="4000" dirty="0" err="1"/>
              <a:t>Matplotlib</a:t>
            </a:r>
            <a:endParaRPr lang="en-US" sz="4000" dirty="0"/>
          </a:p>
          <a:p>
            <a:r>
              <a:rPr lang="en-US" sz="4000" dirty="0" err="1"/>
              <a:t>Streamlit</a:t>
            </a:r>
            <a:endParaRPr lang="en-US" sz="4000" dirty="0"/>
          </a:p>
          <a:p>
            <a:r>
              <a:rPr lang="en-US" sz="4000" dirty="0"/>
              <a:t>SQLite3</a:t>
            </a:r>
          </a:p>
        </p:txBody>
      </p:sp>
    </p:spTree>
    <p:extLst>
      <p:ext uri="{BB962C8B-B14F-4D97-AF65-F5344CB8AC3E}">
        <p14:creationId xmlns:p14="http://schemas.microsoft.com/office/powerpoint/2010/main" val="504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03518"/>
            <a:ext cx="8229600" cy="1143000"/>
          </a:xfrm>
          <a:prstGeom prst="rect">
            <a:avLst/>
          </a:prstGeom>
        </p:spPr>
        <p:txBody>
          <a:bodyPr/>
          <a:lstStyle>
            <a:lvl1pPr algn="l" defTabSz="457063" rtl="0" eaLnBrk="1" latinLnBrk="0" hangingPunct="1">
              <a:spcBef>
                <a:spcPct val="0"/>
              </a:spcBef>
              <a:buNone/>
              <a:defRPr sz="4199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>
                <a:solidFill>
                  <a:srgbClr val="FFFF00"/>
                </a:solidFill>
              </a:rPr>
              <a:t>Data Preprocessing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3200" dirty="0" smtClean="0"/>
              <a:t>Handled missing values</a:t>
            </a:r>
          </a:p>
          <a:p>
            <a:r>
              <a:rPr lang="en-US" sz="3200" dirty="0" smtClean="0"/>
              <a:t>Feature engineering</a:t>
            </a:r>
          </a:p>
          <a:p>
            <a:r>
              <a:rPr lang="en-US" sz="3200" dirty="0" smtClean="0"/>
              <a:t>Encoding categorical data</a:t>
            </a:r>
          </a:p>
          <a:p>
            <a:r>
              <a:rPr lang="en-US" sz="3200" dirty="0" smtClean="0"/>
              <a:t>Train-test split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5177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908720"/>
            <a:ext cx="8301508" cy="936104"/>
          </a:xfrm>
          <a:prstGeom prst="rect">
            <a:avLst/>
          </a:prstGeom>
        </p:spPr>
        <p:txBody>
          <a:bodyPr/>
          <a:lstStyle>
            <a:lvl1pPr algn="l" defTabSz="457063" rtl="0" eaLnBrk="1" latinLnBrk="0" hangingPunct="1">
              <a:spcBef>
                <a:spcPct val="0"/>
              </a:spcBef>
              <a:buNone/>
              <a:defRPr sz="4199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 smtClean="0">
                <a:solidFill>
                  <a:srgbClr val="FFFF00"/>
                </a:solidFill>
              </a:rPr>
              <a:t>Machine Learning Models Tested</a:t>
            </a:r>
            <a:endParaRPr lang="en-US" sz="36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21804" y="1844824"/>
            <a:ext cx="7612360" cy="2308522"/>
          </a:xfrm>
          <a:prstGeom prst="rect">
            <a:avLst/>
          </a:prstGeom>
        </p:spPr>
        <p:txBody>
          <a:bodyPr/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3600" dirty="0" smtClean="0"/>
              <a:t>Linear Regression</a:t>
            </a:r>
          </a:p>
          <a:p>
            <a:r>
              <a:rPr lang="en-US" sz="3600" dirty="0" smtClean="0"/>
              <a:t>Decision Tree</a:t>
            </a:r>
          </a:p>
          <a:p>
            <a:r>
              <a:rPr lang="en-US" sz="3600" dirty="0" smtClean="0"/>
              <a:t>Random Forest</a:t>
            </a:r>
          </a:p>
          <a:p>
            <a:r>
              <a:rPr lang="en-US" sz="3600" dirty="0" err="1" smtClean="0"/>
              <a:t>XGBoost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5292" y="2060848"/>
            <a:ext cx="8661448" cy="3537884"/>
          </a:xfrm>
          <a:prstGeom prst="rect">
            <a:avLst/>
          </a:prstGeom>
        </p:spPr>
        <p:txBody>
          <a:bodyPr/>
          <a:lstStyle>
            <a:lvl1pPr marL="342797" indent="-342797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9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727" indent="-285664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799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2657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599720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6783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24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0908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7971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5034" indent="-228531" algn="l" defTabSz="457063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1631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Booking Demand Forecast</a:t>
            </a:r>
          </a:p>
        </p:txBody>
      </p:sp>
      <p:pic>
        <p:nvPicPr>
          <p:cNvPr id="3" name="Picture 2" descr="monthly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596" y="1304298"/>
            <a:ext cx="6372967" cy="396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2004" y="5279482"/>
            <a:ext cx="64443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Shows seasonal peaks in mid-year and lower demand at year-end.</a:t>
            </a:r>
          </a:p>
        </p:txBody>
      </p:sp>
    </p:spTree>
    <p:extLst>
      <p:ext uri="{BB962C8B-B14F-4D97-AF65-F5344CB8AC3E}">
        <p14:creationId xmlns:p14="http://schemas.microsoft.com/office/powerpoint/2010/main" val="253502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43293"/>
            <a:ext cx="8892479" cy="925467"/>
          </a:xfrm>
        </p:spPr>
        <p:txBody>
          <a:bodyPr/>
          <a:lstStyle/>
          <a:p>
            <a:r>
              <a:rPr dirty="0"/>
              <a:t>Room Type Booking Distribution</a:t>
            </a:r>
          </a:p>
        </p:txBody>
      </p:sp>
      <p:pic>
        <p:nvPicPr>
          <p:cNvPr id="3" name="Picture 2" descr="room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1412776"/>
            <a:ext cx="6753944" cy="41978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V="1">
            <a:off x="2205981" y="5215652"/>
            <a:ext cx="5544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Ordinary rooms have highest demand, suites the least.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1965" y="4846320"/>
            <a:ext cx="59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Ordinary rooms have highest demand, suites the least.</a:t>
            </a:r>
          </a:p>
        </p:txBody>
      </p:sp>
    </p:spTree>
    <p:extLst>
      <p:ext uri="{BB962C8B-B14F-4D97-AF65-F5344CB8AC3E}">
        <p14:creationId xmlns:p14="http://schemas.microsoft.com/office/powerpoint/2010/main" val="191513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100136" y="233998"/>
            <a:ext cx="7586663" cy="8723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Cancellation Rate Analysis</a:t>
            </a:r>
            <a:endParaRPr lang="en-US" dirty="0"/>
          </a:p>
        </p:txBody>
      </p:sp>
      <p:pic>
        <p:nvPicPr>
          <p:cNvPr id="3" name="Picture 2" descr="cancella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402081"/>
            <a:ext cx="6048672" cy="4536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1924" y="6189806"/>
            <a:ext cx="674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Visualizes proportion of cancelled vs confirmed bookings.</a:t>
            </a:r>
          </a:p>
        </p:txBody>
      </p:sp>
    </p:spTree>
    <p:extLst>
      <p:ext uri="{BB962C8B-B14F-4D97-AF65-F5344CB8AC3E}">
        <p14:creationId xmlns:p14="http://schemas.microsoft.com/office/powerpoint/2010/main" val="314887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Daily Average Adults vs Children</a:t>
            </a:r>
            <a:endParaRPr lang="en-US" dirty="0"/>
          </a:p>
        </p:txBody>
      </p:sp>
      <p:pic>
        <p:nvPicPr>
          <p:cNvPr id="3" name="Picture 2" descr="daily_g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886018"/>
            <a:ext cx="7776864" cy="48621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2212" y="6174887"/>
            <a:ext cx="724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Shows variation in number of adults and children across days.</a:t>
            </a:r>
          </a:p>
        </p:txBody>
      </p:sp>
    </p:spTree>
    <p:extLst>
      <p:ext uri="{BB962C8B-B14F-4D97-AF65-F5344CB8AC3E}">
        <p14:creationId xmlns:p14="http://schemas.microsoft.com/office/powerpoint/2010/main" val="409804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C6D9-7897-9B3B-324E-1F0FAF27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F9FF-5E09-F8F9-88AB-F944C10A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-171400"/>
            <a:ext cx="9144001" cy="137160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Sample output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E5CC07-8108-5DCC-0F0A-2F3530726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9402" y="1412776"/>
            <a:ext cx="9134475" cy="480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80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3" y="229433"/>
            <a:ext cx="10441160" cy="63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9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1987-4DBF-1E3F-B6BD-613F0611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0B167-711D-D3DD-93DB-7119B37D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320" y="332656"/>
            <a:ext cx="9144001" cy="100959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D1B44-1E8D-275A-5C69-43E72120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77" y="980729"/>
            <a:ext cx="9386928" cy="2520280"/>
          </a:xfrm>
        </p:spPr>
        <p:txBody>
          <a:bodyPr/>
          <a:lstStyle/>
          <a:p>
            <a:r>
              <a:rPr lang="en-US" dirty="0"/>
              <a:t>The system successfully predicts monthly hotel booking demand.</a:t>
            </a:r>
          </a:p>
          <a:p>
            <a:r>
              <a:rPr lang="en-US" dirty="0"/>
              <a:t>It accurately identifies the cancellation risk for each booking.</a:t>
            </a:r>
          </a:p>
          <a:p>
            <a:r>
              <a:rPr lang="en-US" dirty="0"/>
              <a:t>Users can enter details through the </a:t>
            </a:r>
            <a:r>
              <a:rPr lang="en-US" dirty="0" err="1"/>
              <a:t>Streamlit</a:t>
            </a:r>
            <a:r>
              <a:rPr lang="en-US" dirty="0"/>
              <a:t> dashboard and get instant results</a:t>
            </a:r>
          </a:p>
          <a:p>
            <a:r>
              <a:rPr lang="en-US" dirty="0"/>
              <a:t>The dashboard is simple, fast, and user-friendly.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3B621-08ED-3A1F-F736-3F19B3063A56}"/>
              </a:ext>
            </a:extLst>
          </p:cNvPr>
          <p:cNvSpPr txBox="1"/>
          <p:nvPr/>
        </p:nvSpPr>
        <p:spPr>
          <a:xfrm>
            <a:off x="1413892" y="3501009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conclusion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0EA1F-4DF4-3F32-BA02-936021FE88D6}"/>
              </a:ext>
            </a:extLst>
          </p:cNvPr>
          <p:cNvSpPr txBox="1"/>
          <p:nvPr/>
        </p:nvSpPr>
        <p:spPr>
          <a:xfrm>
            <a:off x="1269876" y="4024229"/>
            <a:ext cx="8424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This project shows the effective use of Machine Learning in hotel management.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It helps in better planning and reduces losses caused by cancellations.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Real-time predictions make the system practical for real-world use.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87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5980" y="1340768"/>
            <a:ext cx="8999248" cy="2667000"/>
          </a:xfrm>
        </p:spPr>
        <p:txBody>
          <a:bodyPr/>
          <a:lstStyle/>
          <a:p>
            <a:r>
              <a:rPr lang="en-US" sz="88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238</TotalTime>
  <Words>257</Words>
  <Application>Microsoft Office PowerPoint</Application>
  <PresentationFormat>Custom</PresentationFormat>
  <Paragraphs>78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Algerian</vt:lpstr>
      <vt:lpstr>Arial</vt:lpstr>
      <vt:lpstr>Baskerville Old Face</vt:lpstr>
      <vt:lpstr>Century Gothic</vt:lpstr>
      <vt:lpstr>Corbel</vt:lpstr>
      <vt:lpstr>Segoe UI Variable Text</vt:lpstr>
      <vt:lpstr>Times New Roman</vt:lpstr>
      <vt:lpstr>Wingdings</vt:lpstr>
      <vt:lpstr>Wingdings 3</vt:lpstr>
      <vt:lpstr>Ion</vt:lpstr>
      <vt:lpstr>Project TITLE: Hotel Booking Demand Forecasting &amp; Cancellation Analysis Using Machine Learning</vt:lpstr>
      <vt:lpstr>Problem statment</vt:lpstr>
      <vt:lpstr>ABSTRACT:</vt:lpstr>
      <vt:lpstr>PowerPoint Presentation</vt:lpstr>
      <vt:lpstr>Technology used</vt:lpstr>
      <vt:lpstr>PowerPoint Presentation</vt:lpstr>
      <vt:lpstr>PowerPoint Presentation</vt:lpstr>
      <vt:lpstr>Monthly Booking Demand Forecast</vt:lpstr>
      <vt:lpstr>Room Type Booking Distribution</vt:lpstr>
      <vt:lpstr>PowerPoint Presentation</vt:lpstr>
      <vt:lpstr>PowerPoint Presentation</vt:lpstr>
      <vt:lpstr>Sample output</vt:lpstr>
      <vt:lpstr>PowerPoint Presentation</vt:lpstr>
      <vt:lpstr>Result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Hotel Booking Demand Forecasting &amp; Cancellation Analysis Using Machine Learning</dc:title>
  <dc:creator>murahari vasanth kumar</dc:creator>
  <cp:lastModifiedBy>ADMIN</cp:lastModifiedBy>
  <cp:revision>12</cp:revision>
  <cp:lastPrinted>2026-01-23T06:53:11Z</cp:lastPrinted>
  <dcterms:created xsi:type="dcterms:W3CDTF">2026-01-23T04:39:51Z</dcterms:created>
  <dcterms:modified xsi:type="dcterms:W3CDTF">2026-01-30T11:00:13Z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